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2" autoAdjust="0"/>
    <p:restoredTop sz="94610"/>
  </p:normalViewPr>
  <p:slideViewPr>
    <p:cSldViewPr snapToGrid="0" snapToObjects="1">
      <p:cViewPr>
        <p:scale>
          <a:sx n="116" d="100"/>
          <a:sy n="116" d="100"/>
        </p:scale>
        <p:origin x="1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771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WrenPass helps local SMEs pre-sell future services through wallet-owned prepaid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context: IFC estimates a $5.2T formal MSME finance gap and says many MSMEs lack adequate financing. UNDP reports MSMEs are 99.5% of PH establishments and 63% of employment.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Positioning: WrenPass is not a loan. It is a pre-sale rail using stablecoin payment, campaign rules, and verifiable redemption.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UNDP Philippines says MSMEs make up 99.5% of establishments and 63% of employment. IFC/World Bank estimate the formal MSME finance gap in the trillions of USD.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Next.js frontend, wallet-based identity, Stellar USDC transfers, Soroban contracts for campaign/passes/redemption/reviews, and activity/indexing for reports. Stellar Smart Contracts/Soroban are Stellar’s smart-contract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Growth focus: meet Level 5 user requirement, but avoid vanity accounts. Prove real activity: campaign created, pass bought, pass redeemed, feedback captured.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should be presented as staged risk reduction: product flow, real merchants, trust, then mainnet/payments.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WrenPass is focused, visual, and testable. It solves working-capital pain using prepaid services, not abstract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161288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WrenPass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03504" y="1956816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DE7DE"/>
                </a:solidFill>
              </a:rPr>
              <a:t>Prepaid service passes for small businesses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03504" y="2578608"/>
            <a:ext cx="1170432" cy="0"/>
          </a:xfrm>
          <a:prstGeom prst="line">
            <a:avLst/>
          </a:prstGeom>
          <a:noFill/>
          <a:ln w="40640">
            <a:solidFill>
              <a:srgbClr val="EF8C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" y="2980944"/>
            <a:ext cx="42976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Cash today. Service later.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 loans. No debt. On Stellar.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03504" y="4645152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0D211C">
              <a:alpha val="90000"/>
            </a:srgbClr>
          </a:solidFill>
          <a:ln w="12700">
            <a:solidFill>
              <a:srgbClr val="7FF0C3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4711903"/>
            <a:ext cx="2020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7FF0C3"/>
                </a:solidFill>
              </a:rPr>
              <a:t>STELLAR • SOROBAN • USDC</a:t>
            </a:r>
            <a:endParaRPr lang="en-US" sz="860" dirty="0"/>
          </a:p>
        </p:txBody>
      </p:sp>
      <p:sp>
        <p:nvSpPr>
          <p:cNvPr id="10" name="Text 6"/>
          <p:cNvSpPr/>
          <p:nvPr/>
        </p:nvSpPr>
        <p:spPr>
          <a:xfrm>
            <a:off x="411480" y="64465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6C5AC"/>
                </a:solidFill>
              </a:rPr>
              <a:t>WrenPass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1138428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6C5AC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2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6C5AC"/>
                </a:solidFill>
              </a:rPr>
              <a:t>Small merchants need cash before their customers need the service.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61872"/>
            <a:ext cx="960120" cy="0"/>
          </a:xfrm>
          <a:prstGeom prst="line">
            <a:avLst/>
          </a:prstGeom>
          <a:noFill/>
          <a:ln w="29210">
            <a:solidFill>
              <a:srgbClr val="EF8C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934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7F2E9"/>
                </a:solidFill>
              </a:rPr>
              <a:t>SMEs are everywhere, but access to working capital is still broken.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21792" y="2523744"/>
            <a:ext cx="155448" cy="155448"/>
          </a:xfrm>
          <a:prstGeom prst="ellipse">
            <a:avLst/>
          </a:prstGeom>
          <a:solidFill>
            <a:srgbClr val="EF8C6E"/>
          </a:solidFill>
          <a:ln w="12700">
            <a:solidFill>
              <a:srgbClr val="EF8C6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4871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F7F2E9"/>
                </a:solidFill>
              </a:rPr>
              <a:t>Loans are slow, paperwork-heavy, and often unavailable for micro merchants.</a:t>
            </a:r>
            <a:endParaRPr lang="en-US" sz="1430" dirty="0"/>
          </a:p>
        </p:txBody>
      </p:sp>
      <p:sp>
        <p:nvSpPr>
          <p:cNvPr id="8" name="Shape 6"/>
          <p:cNvSpPr/>
          <p:nvPr/>
        </p:nvSpPr>
        <p:spPr>
          <a:xfrm>
            <a:off x="621792" y="3127248"/>
            <a:ext cx="155448" cy="155448"/>
          </a:xfrm>
          <a:prstGeom prst="ellipse">
            <a:avLst/>
          </a:prstGeom>
          <a:solidFill>
            <a:srgbClr val="EF8C6E"/>
          </a:solidFill>
          <a:ln w="12700">
            <a:solidFill>
              <a:srgbClr val="EF8C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09067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F7F2E9"/>
                </a:solidFill>
              </a:rPr>
              <a:t>Discount vouchers bring sales, but do not prove ownership or redemption history.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621792" y="3730752"/>
            <a:ext cx="155448" cy="155448"/>
          </a:xfrm>
          <a:prstGeom prst="ellipse">
            <a:avLst/>
          </a:prstGeom>
          <a:solidFill>
            <a:srgbClr val="EF8C6E"/>
          </a:solidFill>
          <a:ln w="12700">
            <a:solidFill>
              <a:srgbClr val="EF8C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69417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F7F2E9"/>
                </a:solidFill>
              </a:rPr>
              <a:t>Customers want deals; merchants need immediate cash flow without debt.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 rot="2100000">
            <a:off x="6492240" y="1417320"/>
            <a:ext cx="3931920" cy="3931920"/>
          </a:xfrm>
          <a:prstGeom prst="arc">
            <a:avLst/>
          </a:prstGeom>
          <a:solidFill>
            <a:srgbClr val="17241F">
              <a:alpha val="0"/>
            </a:srgbClr>
          </a:solidFill>
          <a:ln w="76200">
            <a:solidFill>
              <a:srgbClr val="EF8C6E">
                <a:alpha val="8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828800"/>
            <a:ext cx="2057400" cy="1234440"/>
          </a:xfrm>
          <a:prstGeom prst="roundRect">
            <a:avLst>
              <a:gd name="adj" fmla="val 8889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15400" y="1828800"/>
            <a:ext cx="2057400" cy="1234440"/>
          </a:xfrm>
          <a:prstGeom prst="roundRect">
            <a:avLst>
              <a:gd name="adj" fmla="val 8889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62672" y="3657600"/>
            <a:ext cx="2057400" cy="1234440"/>
          </a:xfrm>
          <a:prstGeom prst="roundRect">
            <a:avLst>
              <a:gd name="adj" fmla="val 8889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0256" y="21214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2E9"/>
                </a:solidFill>
              </a:rPr>
              <a:t>Merchant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38544" y="24414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6C5AC"/>
                </a:solidFill>
              </a:rPr>
              <a:t>needs cash now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0" y="21214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2E9"/>
                </a:solidFill>
              </a:rPr>
              <a:t>Customer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89720" y="24414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6C5AC"/>
                </a:solidFill>
              </a:rPr>
              <a:t>wants savings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09560" y="39502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8C6E"/>
                </a:solidFill>
              </a:rPr>
              <a:t>Trust gap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45552" y="427024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A6C5AC"/>
                </a:solidFill>
              </a:rPr>
              <a:t>who owns and redeemed? 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411480" y="64465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6C5AC"/>
                </a:solidFill>
              </a:rPr>
              <a:t>WrenPass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38428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6C5AC"/>
                </a:solidFill>
              </a:rPr>
              <a:t>02</a:t>
            </a:r>
            <a:endParaRPr lang="en-US" sz="75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7B2C5673-A472-39DC-37E3-1C72897C7DF3}"/>
              </a:ext>
            </a:extLst>
          </p:cNvPr>
          <p:cNvSpPr/>
          <p:nvPr/>
        </p:nvSpPr>
        <p:spPr>
          <a:xfrm rot="7479946">
            <a:off x="6492241" y="1417319"/>
            <a:ext cx="3931920" cy="3931920"/>
          </a:xfrm>
          <a:prstGeom prst="arc">
            <a:avLst/>
          </a:prstGeom>
          <a:solidFill>
            <a:srgbClr val="17241F">
              <a:alpha val="0"/>
            </a:srgbClr>
          </a:solidFill>
          <a:ln w="76200">
            <a:solidFill>
              <a:srgbClr val="EF8C6E">
                <a:alpha val="82000"/>
              </a:srgbClr>
            </a:solidFill>
            <a:prstDash val="solid"/>
          </a:ln>
        </p:spPr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1E1E527F-32FC-B8C6-2DEE-5B40D393388B}"/>
              </a:ext>
            </a:extLst>
          </p:cNvPr>
          <p:cNvSpPr/>
          <p:nvPr/>
        </p:nvSpPr>
        <p:spPr>
          <a:xfrm rot="12822278">
            <a:off x="6489590" y="1414667"/>
            <a:ext cx="3931920" cy="3931920"/>
          </a:xfrm>
          <a:prstGeom prst="arc">
            <a:avLst/>
          </a:prstGeom>
          <a:solidFill>
            <a:srgbClr val="17241F">
              <a:alpha val="0"/>
            </a:srgbClr>
          </a:solidFill>
          <a:ln w="76200">
            <a:solidFill>
              <a:srgbClr val="EF8C6E">
                <a:alpha val="82000"/>
              </a:srgbClr>
            </a:solidFill>
            <a:prstDash val="solid"/>
          </a:ln>
        </p:spPr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33E9BBF9-331A-B10D-9EA4-7909A0147A05}"/>
              </a:ext>
            </a:extLst>
          </p:cNvPr>
          <p:cNvSpPr/>
          <p:nvPr/>
        </p:nvSpPr>
        <p:spPr>
          <a:xfrm rot="18311951">
            <a:off x="6494556" y="1415289"/>
            <a:ext cx="3931920" cy="3931920"/>
          </a:xfrm>
          <a:prstGeom prst="arc">
            <a:avLst/>
          </a:prstGeom>
          <a:solidFill>
            <a:srgbClr val="17241F">
              <a:alpha val="0"/>
            </a:srgbClr>
          </a:solidFill>
          <a:ln w="76200">
            <a:solidFill>
              <a:srgbClr val="EF8C6E">
                <a:alpha val="8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2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6C5AC"/>
                </a:solidFill>
              </a:rPr>
              <a:t>A prepaid pass marketplace for future services.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61872"/>
            <a:ext cx="960120" cy="0"/>
          </a:xfrm>
          <a:prstGeom prst="line">
            <a:avLst/>
          </a:prstGeom>
          <a:noFill/>
          <a:ln w="29210">
            <a:solidFill>
              <a:srgbClr val="EF8C6E"/>
            </a:solidFill>
            <a:prstDash val="solid"/>
          </a:ln>
        </p:spPr>
      </p:sp>
      <p:pic>
        <p:nvPicPr>
          <p:cNvPr id="5" name="Image 0" descr="/mnt/data/community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594360"/>
            <a:ext cx="5989320" cy="5349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5727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2E9"/>
                </a:solidFill>
              </a:rPr>
              <a:t>WrenPass turns a future service into a wallet-owned pass.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58368" y="2487168"/>
            <a:ext cx="384048" cy="384048"/>
          </a:xfrm>
          <a:prstGeom prst="ellipse">
            <a:avLst/>
          </a:prstGeom>
          <a:solidFill>
            <a:srgbClr val="EF8C6E"/>
          </a:solidFill>
          <a:ln w="12700">
            <a:solidFill>
              <a:srgbClr val="EF8C6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256032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41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34440" y="24688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FFFFFF"/>
                </a:solidFill>
              </a:rPr>
              <a:t>Merchant creates offer</a:t>
            </a:r>
            <a:endParaRPr lang="en-US" sz="1580" dirty="0"/>
          </a:p>
        </p:txBody>
      </p:sp>
      <p:sp>
        <p:nvSpPr>
          <p:cNvPr id="10" name="Text 7"/>
          <p:cNvSpPr/>
          <p:nvPr/>
        </p:nvSpPr>
        <p:spPr>
          <a:xfrm>
            <a:off x="1234440" y="275234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6C5AC"/>
                </a:solidFill>
              </a:rPr>
              <a:t>“Pay 4 USDC now, redeem 5 USDC service later.”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658368" y="3310128"/>
            <a:ext cx="384048" cy="384048"/>
          </a:xfrm>
          <a:prstGeom prst="ellipse">
            <a:avLst/>
          </a:prstGeom>
          <a:solidFill>
            <a:srgbClr val="EF8C6E"/>
          </a:solidFill>
          <a:ln w="12700">
            <a:solidFill>
              <a:srgbClr val="EF8C6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338328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41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34440" y="32918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FFFFFF"/>
                </a:solidFill>
              </a:rPr>
              <a:t>Customer buys pass</a:t>
            </a:r>
            <a:endParaRPr lang="en-US" sz="1580" dirty="0"/>
          </a:p>
        </p:txBody>
      </p:sp>
      <p:sp>
        <p:nvSpPr>
          <p:cNvPr id="14" name="Text 11"/>
          <p:cNvSpPr/>
          <p:nvPr/>
        </p:nvSpPr>
        <p:spPr>
          <a:xfrm>
            <a:off x="1234440" y="357530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6C5AC"/>
                </a:solidFill>
              </a:rPr>
              <a:t>USDC moves, ownership is recorded on-chain.</a:t>
            </a:r>
            <a:endParaRPr lang="en-US" sz="1130" dirty="0"/>
          </a:p>
        </p:txBody>
      </p:sp>
      <p:sp>
        <p:nvSpPr>
          <p:cNvPr id="15" name="Shape 12"/>
          <p:cNvSpPr/>
          <p:nvPr/>
        </p:nvSpPr>
        <p:spPr>
          <a:xfrm>
            <a:off x="658368" y="4133088"/>
            <a:ext cx="384048" cy="384048"/>
          </a:xfrm>
          <a:prstGeom prst="ellipse">
            <a:avLst/>
          </a:prstGeom>
          <a:solidFill>
            <a:srgbClr val="EF8C6E"/>
          </a:solidFill>
          <a:ln w="12700">
            <a:solidFill>
              <a:srgbClr val="EF8C6E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" y="420624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41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34440" y="41148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FFFFFF"/>
                </a:solidFill>
              </a:rPr>
              <a:t>Merchant redeems</a:t>
            </a:r>
            <a:endParaRPr lang="en-US" sz="1580" dirty="0"/>
          </a:p>
        </p:txBody>
      </p:sp>
      <p:sp>
        <p:nvSpPr>
          <p:cNvPr id="18" name="Text 15"/>
          <p:cNvSpPr/>
          <p:nvPr/>
        </p:nvSpPr>
        <p:spPr>
          <a:xfrm>
            <a:off x="1234440" y="439826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6C5AC"/>
                </a:solidFill>
              </a:rPr>
              <a:t>QR/check-in verifies ownership and updates status.</a:t>
            </a:r>
            <a:endParaRPr lang="en-US" sz="1130" dirty="0"/>
          </a:p>
        </p:txBody>
      </p:sp>
      <p:sp>
        <p:nvSpPr>
          <p:cNvPr id="19" name="Shape 16"/>
          <p:cNvSpPr/>
          <p:nvPr/>
        </p:nvSpPr>
        <p:spPr>
          <a:xfrm>
            <a:off x="640080" y="5193792"/>
            <a:ext cx="3154680" cy="292608"/>
          </a:xfrm>
          <a:prstGeom prst="roundRect">
            <a:avLst>
              <a:gd name="adj" fmla="val 25000"/>
            </a:avLst>
          </a:prstGeom>
          <a:solidFill>
            <a:srgbClr val="1B352D">
              <a:alpha val="90000"/>
            </a:srgbClr>
          </a:solidFill>
          <a:ln w="12700">
            <a:solidFill>
              <a:srgbClr val="7FF0C3">
                <a:alpha val="8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" y="5260543"/>
            <a:ext cx="2935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7FF0C3"/>
                </a:solidFill>
              </a:rPr>
              <a:t>VALUE: upfront capital without taking a loan</a:t>
            </a:r>
            <a:endParaRPr lang="en-US" sz="860" dirty="0"/>
          </a:p>
        </p:txBody>
      </p:sp>
      <p:sp>
        <p:nvSpPr>
          <p:cNvPr id="22" name="Text 18"/>
          <p:cNvSpPr/>
          <p:nvPr/>
        </p:nvSpPr>
        <p:spPr>
          <a:xfrm>
            <a:off x="411480" y="64465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6C5AC"/>
                </a:solidFill>
              </a:rPr>
              <a:t>WrenPass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1138428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6C5AC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opportunity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6C5AC"/>
                </a:solidFill>
              </a:rPr>
              <a:t>Start local, prove repeat usage, then expand across service SMEs.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61872"/>
            <a:ext cx="960120" cy="0"/>
          </a:xfrm>
          <a:prstGeom prst="line">
            <a:avLst/>
          </a:prstGeom>
          <a:noFill/>
          <a:ln w="29210">
            <a:solidFill>
              <a:srgbClr val="EF8C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17904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4708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EF8C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99.5%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841248" y="2377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DDE7DE"/>
                </a:solidFill>
              </a:rPr>
              <a:t>of Philippine business establishments are MSMEs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480560" y="1517904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184708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EF8C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63%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4736592" y="2377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DDE7DE"/>
                </a:solidFill>
              </a:rPr>
              <a:t>of Philippine employment comes from MSMEs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366760" y="1517904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31936" y="18470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EF8C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$5T+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8631936" y="2377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DDE7DE"/>
                </a:solidFill>
              </a:rPr>
              <a:t>global MSME finance gap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67512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7F2E9"/>
                </a:solidFill>
              </a:rPr>
              <a:t>Beachhead: cash-heavy services with repeat customers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94944" y="4498848"/>
            <a:ext cx="1719072" cy="292608"/>
          </a:xfrm>
          <a:prstGeom prst="roundRect">
            <a:avLst>
              <a:gd name="adj" fmla="val 25000"/>
            </a:avLst>
          </a:prstGeom>
          <a:solidFill>
            <a:srgbClr val="20372F">
              <a:alpha val="90000"/>
            </a:srgbClr>
          </a:solidFill>
          <a:ln w="12700">
            <a:solidFill>
              <a:srgbClr val="EF8C6E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565599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EF8C6E"/>
                </a:solidFill>
              </a:rPr>
              <a:t>Barbers &amp; salons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2706624" y="4498848"/>
            <a:ext cx="1719072" cy="292608"/>
          </a:xfrm>
          <a:prstGeom prst="roundRect">
            <a:avLst>
              <a:gd name="adj" fmla="val 25000"/>
            </a:avLst>
          </a:prstGeom>
          <a:solidFill>
            <a:srgbClr val="20372F">
              <a:alpha val="90000"/>
            </a:srgbClr>
          </a:solidFill>
          <a:ln w="12700">
            <a:solidFill>
              <a:srgbClr val="EF8C6E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4565599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EF8C6E"/>
                </a:solidFill>
              </a:rPr>
              <a:t>Tutors &amp; review centers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718304" y="4498848"/>
            <a:ext cx="1719072" cy="292608"/>
          </a:xfrm>
          <a:prstGeom prst="roundRect">
            <a:avLst>
              <a:gd name="adj" fmla="val 25000"/>
            </a:avLst>
          </a:prstGeom>
          <a:solidFill>
            <a:srgbClr val="20372F">
              <a:alpha val="90000"/>
            </a:srgbClr>
          </a:solidFill>
          <a:ln w="12700">
            <a:solidFill>
              <a:srgbClr val="EF8C6E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4565599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EF8C6E"/>
                </a:solidFill>
              </a:rPr>
              <a:t>Gyms &amp; coaches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94944" y="5010912"/>
            <a:ext cx="1719072" cy="292608"/>
          </a:xfrm>
          <a:prstGeom prst="roundRect">
            <a:avLst>
              <a:gd name="adj" fmla="val 25000"/>
            </a:avLst>
          </a:prstGeom>
          <a:solidFill>
            <a:srgbClr val="20372F">
              <a:alpha val="90000"/>
            </a:srgbClr>
          </a:solidFill>
          <a:ln w="12700">
            <a:solidFill>
              <a:srgbClr val="7FF0C3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5077663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7FF0C3"/>
                </a:solidFill>
              </a:rPr>
              <a:t>Repair shops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2706624" y="5010912"/>
            <a:ext cx="1719072" cy="292608"/>
          </a:xfrm>
          <a:prstGeom prst="roundRect">
            <a:avLst>
              <a:gd name="adj" fmla="val 25000"/>
            </a:avLst>
          </a:prstGeom>
          <a:solidFill>
            <a:srgbClr val="20372F">
              <a:alpha val="90000"/>
            </a:srgbClr>
          </a:solidFill>
          <a:ln w="12700">
            <a:solidFill>
              <a:srgbClr val="7FF0C3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5077663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7FF0C3"/>
                </a:solidFill>
              </a:rPr>
              <a:t>Food stalls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4718304" y="5010912"/>
            <a:ext cx="1719072" cy="292608"/>
          </a:xfrm>
          <a:prstGeom prst="roundRect">
            <a:avLst>
              <a:gd name="adj" fmla="val 25000"/>
            </a:avLst>
          </a:prstGeom>
          <a:solidFill>
            <a:srgbClr val="20372F">
              <a:alpha val="90000"/>
            </a:srgbClr>
          </a:solidFill>
          <a:ln w="12700">
            <a:solidFill>
              <a:srgbClr val="7FF0C3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5077663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7FF0C3"/>
                </a:solidFill>
              </a:rPr>
              <a:t>Laundry &amp; clinics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7498080" y="38770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2E9"/>
                </a:solidFill>
              </a:rPr>
              <a:t>Wedge strategy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516368" y="4517136"/>
            <a:ext cx="155448" cy="155448"/>
          </a:xfrm>
          <a:prstGeom prst="ellipse">
            <a:avLst/>
          </a:prstGeom>
          <a:solidFill>
            <a:srgbClr val="7FF0C3"/>
          </a:solidFill>
          <a:ln w="12700">
            <a:solidFill>
              <a:srgbClr val="7FF0C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90688" y="44805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F7F2E9"/>
                </a:solidFill>
              </a:rPr>
              <a:t>Capture local prepaid service behavior first.</a:t>
            </a:r>
            <a:endParaRPr lang="en-US" sz="1430" dirty="0"/>
          </a:p>
        </p:txBody>
      </p:sp>
      <p:sp>
        <p:nvSpPr>
          <p:cNvPr id="30" name="Shape 28"/>
          <p:cNvSpPr/>
          <p:nvPr/>
        </p:nvSpPr>
        <p:spPr>
          <a:xfrm>
            <a:off x="7516368" y="4992624"/>
            <a:ext cx="155448" cy="155448"/>
          </a:xfrm>
          <a:prstGeom prst="ellipse">
            <a:avLst/>
          </a:prstGeom>
          <a:solidFill>
            <a:srgbClr val="7FF0C3"/>
          </a:solidFill>
          <a:ln w="12700">
            <a:solidFill>
              <a:srgbClr val="7FF0C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0688" y="495604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F7F2E9"/>
                </a:solidFill>
              </a:rPr>
              <a:t>Use on-chain history as trust + proof of demand.</a:t>
            </a:r>
            <a:endParaRPr lang="en-US" sz="1430" dirty="0"/>
          </a:p>
        </p:txBody>
      </p:sp>
      <p:sp>
        <p:nvSpPr>
          <p:cNvPr id="32" name="Shape 30"/>
          <p:cNvSpPr/>
          <p:nvPr/>
        </p:nvSpPr>
        <p:spPr>
          <a:xfrm>
            <a:off x="7516368" y="5468112"/>
            <a:ext cx="155448" cy="155448"/>
          </a:xfrm>
          <a:prstGeom prst="ellipse">
            <a:avLst/>
          </a:prstGeom>
          <a:solidFill>
            <a:srgbClr val="7FF0C3"/>
          </a:solidFill>
          <a:ln w="12700">
            <a:solidFill>
              <a:srgbClr val="7FF0C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90688" y="543153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F7F2E9"/>
                </a:solidFill>
              </a:rPr>
              <a:t>Expand by merchant category, not by generic finance.</a:t>
            </a:r>
            <a:endParaRPr lang="en-US" sz="1430" dirty="0"/>
          </a:p>
        </p:txBody>
      </p:sp>
      <p:sp>
        <p:nvSpPr>
          <p:cNvPr id="34" name="Text 32"/>
          <p:cNvSpPr/>
          <p:nvPr/>
        </p:nvSpPr>
        <p:spPr>
          <a:xfrm>
            <a:off x="694944" y="6062472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" dirty="0">
                <a:solidFill>
                  <a:srgbClr val="A6C5AC"/>
                </a:solidFill>
              </a:rPr>
              <a:t>Sources: UNDP Philippines MSME survey; IFC/World Bank MSME finance gap.</a:t>
            </a:r>
            <a:endParaRPr lang="en-US" sz="640" dirty="0"/>
          </a:p>
        </p:txBody>
      </p:sp>
      <p:sp>
        <p:nvSpPr>
          <p:cNvPr id="36" name="Text 33"/>
          <p:cNvSpPr/>
          <p:nvPr/>
        </p:nvSpPr>
        <p:spPr>
          <a:xfrm>
            <a:off x="411480" y="64465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6C5AC"/>
                </a:solidFill>
              </a:rPr>
              <a:t>WrenPass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1138428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6C5AC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6C5AC"/>
                </a:solidFill>
              </a:rPr>
              <a:t>Wallet-native pass lifecycle on Stellar.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61872"/>
            <a:ext cx="960120" cy="0"/>
          </a:xfrm>
          <a:prstGeom prst="line">
            <a:avLst/>
          </a:prstGeom>
          <a:noFill/>
          <a:ln w="29210">
            <a:solidFill>
              <a:srgbClr val="EF8C6E"/>
            </a:solidFill>
            <a:prstDash val="solid"/>
          </a:ln>
        </p:spPr>
      </p:sp>
      <p:pic>
        <p:nvPicPr>
          <p:cNvPr id="5" name="Image 0" descr="/mnt/data/arch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078992"/>
            <a:ext cx="4892040" cy="40965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39112" y="1901952"/>
            <a:ext cx="813816" cy="0"/>
          </a:xfrm>
          <a:prstGeom prst="line">
            <a:avLst/>
          </a:prstGeom>
          <a:noFill/>
          <a:ln w="21590">
            <a:solidFill>
              <a:srgbClr val="EF8C6E"/>
            </a:solidFill>
            <a:prstDash val="solid"/>
            <a:headEnd type="none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4224528" y="1901952"/>
            <a:ext cx="850392" cy="0"/>
          </a:xfrm>
          <a:prstGeom prst="line">
            <a:avLst/>
          </a:prstGeom>
          <a:noFill/>
          <a:ln w="21590">
            <a:solidFill>
              <a:srgbClr val="EF8C6E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039112" y="4160520"/>
            <a:ext cx="813816" cy="0"/>
          </a:xfrm>
          <a:prstGeom prst="line">
            <a:avLst/>
          </a:prstGeom>
          <a:noFill/>
          <a:ln w="21590">
            <a:solidFill>
              <a:srgbClr val="7FF0C3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224528" y="4160520"/>
            <a:ext cx="850392" cy="0"/>
          </a:xfrm>
          <a:prstGeom prst="line">
            <a:avLst/>
          </a:prstGeom>
          <a:noFill/>
          <a:ln w="21590">
            <a:solidFill>
              <a:srgbClr val="7FF0C3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13232" y="1399032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52928" y="1399032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74920" y="1399032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3657600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52928" y="3657600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74920" y="3657600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" y="16184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7F2E9"/>
                </a:solidFill>
              </a:rPr>
              <a:t>Next.js DApp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850392" y="18745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A6C5AC"/>
                </a:solidFill>
              </a:rPr>
              <a:t>Merchant + customer UI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2990088" y="16184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7F2E9"/>
                </a:solidFill>
              </a:rPr>
              <a:t>Wallet identity</a:t>
            </a:r>
            <a:endParaRPr lang="en-US" sz="1180" dirty="0"/>
          </a:p>
        </p:txBody>
      </p:sp>
      <p:sp>
        <p:nvSpPr>
          <p:cNvPr id="19" name="Text 16"/>
          <p:cNvSpPr/>
          <p:nvPr/>
        </p:nvSpPr>
        <p:spPr>
          <a:xfrm>
            <a:off x="2990088" y="18745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A6C5AC"/>
                </a:solidFill>
              </a:rPr>
              <a:t>Connect, sign, own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5212080" y="16184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7F2E9"/>
                </a:solidFill>
              </a:rPr>
              <a:t>Stellar USDC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5212080" y="18745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A6C5AC"/>
                </a:solidFill>
              </a:rPr>
              <a:t>Stable payment rail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850392" y="38770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7F2E9"/>
                </a:solidFill>
              </a:rPr>
              <a:t>Soroban contracts</a:t>
            </a:r>
            <a:endParaRPr lang="en-US" sz="1180" dirty="0"/>
          </a:p>
        </p:txBody>
      </p:sp>
      <p:sp>
        <p:nvSpPr>
          <p:cNvPr id="23" name="Text 20"/>
          <p:cNvSpPr/>
          <p:nvPr/>
        </p:nvSpPr>
        <p:spPr>
          <a:xfrm>
            <a:off x="850392" y="413308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A6C5AC"/>
                </a:solidFill>
              </a:rPr>
              <a:t>campaigns, metadata, reviews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2990088" y="38770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7F2E9"/>
                </a:solidFill>
              </a:rPr>
              <a:t>QR redemption</a:t>
            </a:r>
            <a:endParaRPr lang="en-US" sz="1180" dirty="0"/>
          </a:p>
        </p:txBody>
      </p:sp>
      <p:sp>
        <p:nvSpPr>
          <p:cNvPr id="25" name="Text 22"/>
          <p:cNvSpPr/>
          <p:nvPr/>
        </p:nvSpPr>
        <p:spPr>
          <a:xfrm>
            <a:off x="2990088" y="413308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A6C5AC"/>
                </a:solidFill>
              </a:rPr>
              <a:t>verify pass owner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5212080" y="38770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7F2E9"/>
                </a:solidFill>
              </a:rPr>
              <a:t>Activity index</a:t>
            </a:r>
            <a:endParaRPr lang="en-US" sz="1180" dirty="0"/>
          </a:p>
        </p:txBody>
      </p:sp>
      <p:sp>
        <p:nvSpPr>
          <p:cNvPr id="27" name="Text 24"/>
          <p:cNvSpPr/>
          <p:nvPr/>
        </p:nvSpPr>
        <p:spPr>
          <a:xfrm>
            <a:off x="5212080" y="413308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A6C5AC"/>
                </a:solidFill>
              </a:rPr>
              <a:t>history + reports</a:t>
            </a:r>
            <a:endParaRPr lang="en-US" sz="840" dirty="0"/>
          </a:p>
        </p:txBody>
      </p:sp>
      <p:sp>
        <p:nvSpPr>
          <p:cNvPr id="31" name="Text 27"/>
          <p:cNvSpPr/>
          <p:nvPr/>
        </p:nvSpPr>
        <p:spPr>
          <a:xfrm>
            <a:off x="411480" y="64465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6C5AC"/>
                </a:solidFill>
              </a:rPr>
              <a:t>WrenPass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1138428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6C5AC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 strategy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6C5AC"/>
                </a:solidFill>
              </a:rPr>
              <a:t>Win trust through real merchants, real testnet actions, and simple redemption.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61872"/>
            <a:ext cx="960120" cy="0"/>
          </a:xfrm>
          <a:prstGeom prst="line">
            <a:avLst/>
          </a:prstGeom>
          <a:noFill/>
          <a:ln w="29210">
            <a:solidFill>
              <a:srgbClr val="EF8C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270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2E9"/>
                </a:solidFill>
              </a:rPr>
              <a:t>Level 5 growth loop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22672" y="2651760"/>
            <a:ext cx="502921" cy="365760"/>
          </a:xfrm>
          <a:prstGeom prst="line">
            <a:avLst/>
          </a:prstGeom>
          <a:noFill/>
          <a:ln w="21590">
            <a:solidFill>
              <a:srgbClr val="EF8C6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3479910" y="3767822"/>
            <a:ext cx="684564" cy="1024128"/>
          </a:xfrm>
          <a:prstGeom prst="line">
            <a:avLst/>
          </a:prstGeom>
          <a:noFill/>
          <a:ln w="21590">
            <a:solidFill>
              <a:srgbClr val="EF8C6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822192" y="5074920"/>
            <a:ext cx="0" cy="0"/>
          </a:xfrm>
          <a:prstGeom prst="line">
            <a:avLst/>
          </a:prstGeom>
          <a:noFill/>
          <a:ln w="21590">
            <a:solidFill>
              <a:srgbClr val="EF8C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417320" y="4407408"/>
            <a:ext cx="0" cy="0"/>
          </a:xfrm>
          <a:prstGeom prst="line">
            <a:avLst/>
          </a:prstGeom>
          <a:noFill/>
          <a:ln w="21590">
            <a:solidFill>
              <a:srgbClr val="EF8C6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65960" y="2148840"/>
            <a:ext cx="1554480" cy="822960"/>
          </a:xfrm>
          <a:prstGeom prst="roundRect">
            <a:avLst>
              <a:gd name="adj" fmla="val 13333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93976" y="231343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7F2E9"/>
                </a:solidFill>
              </a:rPr>
              <a:t>Onboard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93976" y="256946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A6C5AC"/>
                </a:solidFill>
              </a:rPr>
              <a:t>users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4160520" y="2971800"/>
            <a:ext cx="1554480" cy="822960"/>
          </a:xfrm>
          <a:prstGeom prst="roundRect">
            <a:avLst>
              <a:gd name="adj" fmla="val 13333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88536" y="31363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7F2E9"/>
                </a:solidFill>
              </a:rPr>
              <a:t>Buy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88536" y="339242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A6C5AC"/>
                </a:solidFill>
              </a:rPr>
              <a:t>real pass purchases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1965960" y="4800600"/>
            <a:ext cx="1554480" cy="822960"/>
          </a:xfrm>
          <a:prstGeom prst="roundRect">
            <a:avLst>
              <a:gd name="adj" fmla="val 13333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93976" y="49651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7F2E9"/>
                </a:solidFill>
              </a:rPr>
              <a:t>Redeem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093976" y="522122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A6C5AC"/>
                </a:solidFill>
              </a:rPr>
              <a:t>QR service proof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1554480" cy="822960"/>
          </a:xfrm>
          <a:prstGeom prst="roundRect">
            <a:avLst>
              <a:gd name="adj" fmla="val 13333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331927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7F2E9"/>
                </a:solidFill>
              </a:rPr>
              <a:t>Improve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5216" y="357530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A6C5AC"/>
                </a:solidFill>
              </a:rPr>
              <a:t>feedback-driven UI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6720840" y="1600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F2E9"/>
                </a:solidFill>
              </a:rPr>
              <a:t>Acquisition channels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720840" y="2322576"/>
            <a:ext cx="155448" cy="155448"/>
          </a:xfrm>
          <a:prstGeom prst="ellipse">
            <a:avLst/>
          </a:prstGeom>
          <a:solidFill>
            <a:srgbClr val="7FF0C3"/>
          </a:solidFill>
          <a:ln w="12700">
            <a:solidFill>
              <a:srgbClr val="7FF0C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2860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F7F2E9"/>
                </a:solidFill>
              </a:rPr>
              <a:t>Campus + local SME pilot: barbers, tutors, food stalls.</a:t>
            </a:r>
            <a:endParaRPr lang="en-US" sz="1430" dirty="0"/>
          </a:p>
        </p:txBody>
      </p:sp>
      <p:sp>
        <p:nvSpPr>
          <p:cNvPr id="25" name="Shape 23"/>
          <p:cNvSpPr/>
          <p:nvPr/>
        </p:nvSpPr>
        <p:spPr>
          <a:xfrm>
            <a:off x="6720840" y="2916936"/>
            <a:ext cx="155448" cy="155448"/>
          </a:xfrm>
          <a:prstGeom prst="ellipse">
            <a:avLst/>
          </a:prstGeom>
          <a:solidFill>
            <a:srgbClr val="7FF0C3"/>
          </a:solidFill>
          <a:ln w="12700">
            <a:solidFill>
              <a:srgbClr val="7FF0C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8803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F7F2E9"/>
                </a:solidFill>
              </a:rPr>
              <a:t>“Buy one future service” demo: QR redemption in under 30 seconds.</a:t>
            </a:r>
            <a:endParaRPr lang="en-US" sz="1430" dirty="0"/>
          </a:p>
        </p:txBody>
      </p:sp>
      <p:sp>
        <p:nvSpPr>
          <p:cNvPr id="27" name="Shape 25"/>
          <p:cNvSpPr/>
          <p:nvPr/>
        </p:nvSpPr>
        <p:spPr>
          <a:xfrm>
            <a:off x="6720840" y="3511296"/>
            <a:ext cx="155448" cy="155448"/>
          </a:xfrm>
          <a:prstGeom prst="ellipse">
            <a:avLst/>
          </a:prstGeom>
          <a:solidFill>
            <a:srgbClr val="7FF0C3"/>
          </a:solidFill>
          <a:ln w="12700">
            <a:solidFill>
              <a:srgbClr val="7FF0C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34747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F7F2E9"/>
                </a:solidFill>
              </a:rPr>
              <a:t>Merchant referral: every campaign becomes a public proof page.</a:t>
            </a:r>
            <a:endParaRPr lang="en-US" sz="1430" dirty="0"/>
          </a:p>
        </p:txBody>
      </p:sp>
      <p:sp>
        <p:nvSpPr>
          <p:cNvPr id="29" name="Shape 27"/>
          <p:cNvSpPr/>
          <p:nvPr/>
        </p:nvSpPr>
        <p:spPr>
          <a:xfrm>
            <a:off x="6720840" y="4105656"/>
            <a:ext cx="155448" cy="155448"/>
          </a:xfrm>
          <a:prstGeom prst="ellipse">
            <a:avLst/>
          </a:prstGeom>
          <a:solidFill>
            <a:srgbClr val="7FF0C3"/>
          </a:solidFill>
          <a:ln w="12700">
            <a:solidFill>
              <a:srgbClr val="7FF0C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40690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F7F2E9"/>
                </a:solidFill>
              </a:rPr>
              <a:t>Feedback template: collect rating, issue, scenario, and trust blocker.</a:t>
            </a:r>
            <a:endParaRPr lang="en-US" sz="1430" dirty="0"/>
          </a:p>
        </p:txBody>
      </p:sp>
      <p:sp>
        <p:nvSpPr>
          <p:cNvPr id="31" name="Shape 29"/>
          <p:cNvSpPr/>
          <p:nvPr/>
        </p:nvSpPr>
        <p:spPr>
          <a:xfrm>
            <a:off x="6720840" y="5102352"/>
            <a:ext cx="3703320" cy="292608"/>
          </a:xfrm>
          <a:prstGeom prst="roundRect">
            <a:avLst>
              <a:gd name="adj" fmla="val 25000"/>
            </a:avLst>
          </a:prstGeom>
          <a:solidFill>
            <a:srgbClr val="20372F">
              <a:alpha val="90000"/>
            </a:srgbClr>
          </a:solidFill>
          <a:ln w="12700">
            <a:solidFill>
              <a:srgbClr val="EF8C6E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0568" y="5169103"/>
            <a:ext cx="3483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EF8C6E"/>
                </a:solidFill>
              </a:rPr>
              <a:t>North Star: repeat pass purchases per active merchant</a:t>
            </a:r>
            <a:endParaRPr lang="en-US" sz="860" dirty="0"/>
          </a:p>
        </p:txBody>
      </p:sp>
      <p:sp>
        <p:nvSpPr>
          <p:cNvPr id="34" name="Text 31"/>
          <p:cNvSpPr/>
          <p:nvPr/>
        </p:nvSpPr>
        <p:spPr>
          <a:xfrm>
            <a:off x="411480" y="64465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6C5AC"/>
                </a:solidFill>
              </a:rPr>
              <a:t>WrenPass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1138428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6C5AC"/>
                </a:solidFill>
              </a:rPr>
              <a:t>06</a:t>
            </a:r>
            <a:endParaRPr lang="en-US" sz="750" dirty="0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81FE1DB0-A520-8822-76AF-5BF265C7B369}"/>
              </a:ext>
            </a:extLst>
          </p:cNvPr>
          <p:cNvSpPr/>
          <p:nvPr/>
        </p:nvSpPr>
        <p:spPr>
          <a:xfrm flipH="1" flipV="1">
            <a:off x="1222824" y="3977639"/>
            <a:ext cx="711913" cy="801459"/>
          </a:xfrm>
          <a:prstGeom prst="line">
            <a:avLst/>
          </a:prstGeom>
          <a:noFill/>
          <a:ln w="21590">
            <a:solidFill>
              <a:srgbClr val="EF8C6E"/>
            </a:solidFill>
            <a:prstDash val="solid"/>
            <a:headEnd type="none"/>
            <a:tailEnd type="triangle"/>
          </a:ln>
        </p:spPr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6CA65090-BC39-AEA1-C753-2F8DD7268280}"/>
              </a:ext>
            </a:extLst>
          </p:cNvPr>
          <p:cNvSpPr/>
          <p:nvPr/>
        </p:nvSpPr>
        <p:spPr>
          <a:xfrm flipV="1">
            <a:off x="1222825" y="2569463"/>
            <a:ext cx="743134" cy="576731"/>
          </a:xfrm>
          <a:prstGeom prst="line">
            <a:avLst/>
          </a:prstGeom>
          <a:noFill/>
          <a:ln w="21590">
            <a:solidFill>
              <a:srgbClr val="EF8C6E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6C5AC"/>
                </a:solidFill>
              </a:rPr>
              <a:t>Move from hackathon-grade proof to merchant-grade reliability.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261872"/>
            <a:ext cx="960120" cy="0"/>
          </a:xfrm>
          <a:prstGeom prst="line">
            <a:avLst/>
          </a:prstGeom>
          <a:noFill/>
          <a:ln w="29210">
            <a:solidFill>
              <a:srgbClr val="EF8C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999232"/>
            <a:ext cx="9784080" cy="0"/>
          </a:xfrm>
          <a:prstGeom prst="line">
            <a:avLst/>
          </a:prstGeom>
          <a:noFill/>
          <a:ln w="38100">
            <a:solidFill>
              <a:srgbClr val="EF8C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" y="2898648"/>
            <a:ext cx="201168" cy="201168"/>
          </a:xfrm>
          <a:prstGeom prst="ellipse">
            <a:avLst/>
          </a:prstGeom>
          <a:solidFill>
            <a:srgbClr val="EF8C6E"/>
          </a:solidFill>
          <a:ln w="12700">
            <a:solidFill>
              <a:srgbClr val="EF8C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88536" y="2898648"/>
            <a:ext cx="201168" cy="201168"/>
          </a:xfrm>
          <a:prstGeom prst="ellipse">
            <a:avLst/>
          </a:prstGeom>
          <a:solidFill>
            <a:srgbClr val="EF8C6E"/>
          </a:solidFill>
          <a:ln w="12700">
            <a:solidFill>
              <a:srgbClr val="EF8C6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0376" y="2898648"/>
            <a:ext cx="201168" cy="201168"/>
          </a:xfrm>
          <a:prstGeom prst="ellipse">
            <a:avLst/>
          </a:prstGeom>
          <a:solidFill>
            <a:srgbClr val="EF8C6E"/>
          </a:solidFill>
          <a:ln w="12700">
            <a:solidFill>
              <a:srgbClr val="EF8C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0776" y="2898648"/>
            <a:ext cx="201168" cy="201168"/>
          </a:xfrm>
          <a:prstGeom prst="ellipse">
            <a:avLst/>
          </a:prstGeom>
          <a:solidFill>
            <a:srgbClr val="EF8C6E"/>
          </a:solidFill>
          <a:ln w="12700">
            <a:solidFill>
              <a:srgbClr val="EF8C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3429000"/>
            <a:ext cx="2395728" cy="1325880"/>
          </a:xfrm>
          <a:prstGeom prst="roundRect">
            <a:avLst>
              <a:gd name="adj" fmla="val 8276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393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8C6E"/>
                </a:solidFill>
              </a:rPr>
              <a:t>Now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9410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2E9"/>
                </a:solidFill>
              </a:rPr>
              <a:t>Polish testnet MVP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777240" y="425196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A6C5AC"/>
                </a:solidFill>
              </a:rPr>
              <a:t>Campaign flow, wallet report parity, QR redemption, on-chain activity.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3520440" y="3429000"/>
            <a:ext cx="2395728" cy="1325880"/>
          </a:xfrm>
          <a:prstGeom prst="roundRect">
            <a:avLst>
              <a:gd name="adj" fmla="val 8276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36393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8C6E"/>
                </a:solidFill>
              </a:rPr>
              <a:t>Phase 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85032" y="39410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2E9"/>
                </a:solidFill>
              </a:rPr>
              <a:t>Pilot-ready product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3685032" y="425196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A6C5AC"/>
                </a:solidFill>
              </a:rPr>
              <a:t>Merchant profile, pass analytics, better mobile UX, feedback-driven fixes.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6428232" y="3429000"/>
            <a:ext cx="2395728" cy="1325880"/>
          </a:xfrm>
          <a:prstGeom prst="roundRect">
            <a:avLst>
              <a:gd name="adj" fmla="val 8276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19" name="Text 17"/>
          <p:cNvSpPr/>
          <p:nvPr/>
        </p:nvSpPr>
        <p:spPr>
          <a:xfrm>
            <a:off x="6592824" y="36393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8C6E"/>
                </a:solidFill>
              </a:rPr>
              <a:t>Phase 2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92824" y="39410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2E9"/>
                </a:solidFill>
              </a:rPr>
              <a:t>Trust + distribution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6592824" y="425196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A6C5AC"/>
                </a:solidFill>
              </a:rPr>
              <a:t>Referral pages, public campaign proofs, redemption guardrails, category-specific templates.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9336024" y="3429000"/>
            <a:ext cx="2395728" cy="1325880"/>
          </a:xfrm>
          <a:prstGeom prst="roundRect">
            <a:avLst>
              <a:gd name="adj" fmla="val 8276"/>
            </a:avLst>
          </a:prstGeom>
          <a:solidFill>
            <a:srgbClr val="20372F"/>
          </a:solidFill>
          <a:ln w="12700">
            <a:solidFill>
              <a:srgbClr val="386255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0616" y="36393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8C6E"/>
                </a:solidFill>
              </a:rPr>
              <a:t>Later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500616" y="4082796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A6C5AC"/>
                </a:solidFill>
              </a:rPr>
              <a:t>Compliance review, merchant settlements, anchor/cash-out integrations.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914400" y="157276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7F2E9"/>
                </a:solidFill>
              </a:rPr>
              <a:t>The roadmap is intentionally simple: prove the pass loop, then improve trust, then scale payments.</a:t>
            </a:r>
            <a:endParaRPr lang="en-US" sz="2300" dirty="0"/>
          </a:p>
        </p:txBody>
      </p:sp>
      <p:sp>
        <p:nvSpPr>
          <p:cNvPr id="28" name="Text 25"/>
          <p:cNvSpPr/>
          <p:nvPr/>
        </p:nvSpPr>
        <p:spPr>
          <a:xfrm>
            <a:off x="411480" y="64465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6C5AC"/>
                </a:solidFill>
              </a:rPr>
              <a:t>WrenPass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38428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6C5AC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11556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WrenPass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85800" y="190195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A small business funding rail disguised as a simple discount pass.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13232" y="294436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7DE"/>
                </a:solidFill>
              </a:rPr>
              <a:t>For merchants: cash today.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DE7DE"/>
                </a:solidFill>
              </a:rPr>
              <a:t>For customers: better deals.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DE7DE"/>
                </a:solidFill>
              </a:rPr>
              <a:t>For the ecosystem: real stablecoin utility.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3232" y="4709160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0D211C">
              <a:alpha val="90000"/>
            </a:srgbClr>
          </a:solidFill>
          <a:ln w="12700">
            <a:solidFill>
              <a:srgbClr val="7FF0C3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775911"/>
            <a:ext cx="2157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7FF0C3"/>
                </a:solidFill>
              </a:rPr>
              <a:t>Build • Test • Redeem • Repeat</a:t>
            </a:r>
            <a:endParaRPr lang="en-US" sz="860" dirty="0"/>
          </a:p>
        </p:txBody>
      </p:sp>
      <p:sp>
        <p:nvSpPr>
          <p:cNvPr id="8" name="Text 5"/>
          <p:cNvSpPr/>
          <p:nvPr/>
        </p:nvSpPr>
        <p:spPr>
          <a:xfrm>
            <a:off x="713232" y="5650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8C6E"/>
                </a:solidFill>
              </a:rPr>
              <a:t>Thank you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11480" y="64465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6C5AC"/>
                </a:solidFill>
              </a:rPr>
              <a:t>WrenPass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1138428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6C5AC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803</Words>
  <Application>Microsoft Office PowerPoint</Application>
  <PresentationFormat>Widescreen</PresentationFormat>
  <Paragraphs>134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WrenPass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WrenPass Pitch Deck</dc:title>
  <dc:subject>WrenPass professional pitch deck</dc:subject>
  <dc:creator>OpenAI</dc:creator>
  <cp:lastModifiedBy>Ian Purificacion</cp:lastModifiedBy>
  <cp:revision>2</cp:revision>
  <dcterms:created xsi:type="dcterms:W3CDTF">2026-08-19T16:15:57Z</dcterms:created>
  <dcterms:modified xsi:type="dcterms:W3CDTF">2026-08-19T16:29:49Z</dcterms:modified>
</cp:coreProperties>
</file>